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BFEC47-7294-45AE-9488-B0578DE8F62E}">
  <a:tblStyle styleId="{E3BFEC47-7294-45AE-9488-B0578DE8F6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A6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9000" y="0"/>
            <a:ext cx="12191700" cy="6858000"/>
          </a:xfrm>
          <a:prstGeom prst="rect">
            <a:avLst/>
          </a:prstGeom>
          <a:solidFill>
            <a:srgbClr val="00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867960" y="4567680"/>
            <a:ext cx="3291900" cy="3291900"/>
          </a:xfrm>
          <a:prstGeom prst="ellipse">
            <a:avLst/>
          </a:prstGeom>
          <a:solidFill>
            <a:srgbClr val="0A4A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416600" y="5116320"/>
            <a:ext cx="2194500" cy="21945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937520" y="5592240"/>
            <a:ext cx="1188600" cy="11886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919520" y="5619240"/>
            <a:ext cx="1188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25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16275" y="340850"/>
            <a:ext cx="1082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400"/>
              <a:buFont typeface="Calibri"/>
              <a:buNone/>
            </a:pPr>
            <a:r>
              <a:rPr b="1" lang="en-US" sz="2400" u="none" cap="none" strike="noStrike">
                <a:solidFill>
                  <a:srgbClr val="7FB4DE"/>
                </a:solidFill>
              </a:rPr>
              <a:t>HEALTHCARE OPERATIONS ANALYTICS</a:t>
            </a:r>
            <a:endParaRPr b="1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74" y="997700"/>
            <a:ext cx="10897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NHS Outpatient Appointment Attendance &amp; Operations Intelligence Platform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074" y="2932175"/>
            <a:ext cx="10897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End-to-End Data Engineering, MySQL Analytics, and Power BI Business Intelligence Project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658368" y="4434840"/>
            <a:ext cx="3004500" cy="2100"/>
          </a:xfrm>
          <a:prstGeom prst="straightConnector1">
            <a:avLst/>
          </a:prstGeom>
          <a:noFill/>
          <a:ln cap="flat" cmpd="sng" w="2540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640080" y="4587240"/>
            <a:ext cx="868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Presenter	</a:t>
            </a:r>
            <a:r>
              <a:rPr b="1" lang="en-US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1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en-US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Dhiliban R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0" i="1" lang="en-US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Junior Data Analyst </a:t>
            </a:r>
            <a:endParaRPr b="0" i="1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40080" y="4973574"/>
            <a:ext cx="868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Target Audience  :</a:t>
            </a:r>
            <a:r>
              <a:rPr b="1" lang="en-US" sz="1300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Operations Board &amp; Healthcare BI Stakeholders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40080" y="5359908"/>
            <a:ext cx="868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Domain  	</a:t>
            </a:r>
            <a:r>
              <a:rPr b="1" lang="en-US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      :  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Healthcare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Hospital Operations &amp; Patient Attendance Strategy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548640" y="376701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Project Executive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623060"/>
            <a:ext cx="310800" cy="3108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48640" y="1623060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8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51560" y="1568196"/>
            <a:ext cx="6126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500"/>
              <a:buFont typeface="Calibri"/>
              <a:buNone/>
            </a:pPr>
            <a:r>
              <a:rPr b="1" i="0" lang="en-US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Core Focus</a:t>
            </a:r>
            <a:br>
              <a:rPr b="1" i="0" lang="en-US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Operational analytics platform built to evaluate patient non-attendance (“no-shows”) across NHS outpatient departments.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2679192"/>
            <a:ext cx="310896" cy="310896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48640" y="267919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8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51560" y="2624328"/>
            <a:ext cx="6126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500"/>
              <a:buFont typeface="Calibri"/>
              <a:buNone/>
            </a:pPr>
            <a:r>
              <a:rPr b="1" i="0" lang="en-US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br>
              <a:rPr b="1" i="0" lang="en-US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Analysed 110,527 patient encounter records across 81 regional health centres.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3611499"/>
            <a:ext cx="310800" cy="3108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48640" y="3611499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8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51560" y="3556635"/>
            <a:ext cx="6126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500"/>
              <a:buFont typeface="Calibri"/>
              <a:buNone/>
            </a:pPr>
            <a:r>
              <a:rPr b="1" i="0" lang="en-US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Technical Approach</a:t>
            </a:r>
            <a:br>
              <a:rPr b="1" i="0" lang="en-US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Ingested raw clinical data into MySQL 8.0+, performed ETL data cleaning and feature engineering, calculated advanced DAX measures in Power BI, and published a 2-page interactive executive report.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4848606"/>
            <a:ext cx="310800" cy="3108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48640" y="4848606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8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51560" y="4793742"/>
            <a:ext cx="6126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500"/>
              <a:buFont typeface="Calibri"/>
              <a:buNone/>
            </a:pPr>
            <a:r>
              <a:rPr b="1" i="0" lang="en-US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Primary Goal</a:t>
            </a:r>
            <a:br>
              <a:rPr b="1" i="0" lang="en-US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Identify scheduling bottlenecks, resolve statistical paradoxes in digital outreach, isolate demographic risk cohorts, and recommend data-driven operational interventions.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578100" y="1442075"/>
            <a:ext cx="4156500" cy="4681800"/>
          </a:xfrm>
          <a:prstGeom prst="roundRect">
            <a:avLst>
              <a:gd fmla="val 1839" name="adj"/>
            </a:avLst>
          </a:prstGeom>
          <a:solidFill>
            <a:srgbClr val="003A63"/>
          </a:solidFill>
          <a:ln>
            <a:noFill/>
          </a:ln>
          <a:effectLst>
            <a:outerShdw blurRad="79623" rotWithShape="0" algn="bl" dir="5400000" dist="26541">
              <a:srgbClr val="1B2733">
                <a:alpha val="18039"/>
              </a:srgbClr>
            </a:outerShdw>
          </a:effectLst>
        </p:spPr>
        <p:txBody>
          <a:bodyPr anchorCtr="0" anchor="ctr" bIns="95525" lIns="95525" spcFirstLastPara="1" rIns="95525" wrap="square" tIns="95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912518" y="1728719"/>
            <a:ext cx="3487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254"/>
              <a:buFont typeface="Calibri"/>
              <a:buNone/>
            </a:pPr>
            <a:r>
              <a:rPr b="1" i="0" lang="en-US" sz="1254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AT A GLANCE</a:t>
            </a:r>
            <a:endParaRPr b="0" i="0" sz="12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912518" y="2063136"/>
            <a:ext cx="34875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98"/>
              <a:buFont typeface="Cambria"/>
              <a:buNone/>
            </a:pPr>
            <a:r>
              <a:rPr b="1" i="0" lang="en-US" sz="4598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110,527</a:t>
            </a:r>
            <a:endParaRPr b="0" i="0" sz="45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912518" y="2751082"/>
            <a:ext cx="34875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6"/>
              <a:buFont typeface="Calibri"/>
              <a:buNone/>
            </a:pPr>
            <a:r>
              <a:rPr b="0" i="0" lang="en-US" sz="1306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Patient encounters analysed</a:t>
            </a:r>
            <a:endParaRPr b="0" i="0" sz="13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4"/>
          <p:cNvCxnSpPr/>
          <p:nvPr/>
        </p:nvCxnSpPr>
        <p:spPr>
          <a:xfrm>
            <a:off x="7912518" y="3257486"/>
            <a:ext cx="3487500" cy="0"/>
          </a:xfrm>
          <a:prstGeom prst="straightConnector1">
            <a:avLst/>
          </a:prstGeom>
          <a:noFill/>
          <a:ln cap="flat" cmpd="sng" w="13275">
            <a:solidFill>
              <a:srgbClr val="1B54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4"/>
          <p:cNvSpPr/>
          <p:nvPr/>
        </p:nvSpPr>
        <p:spPr>
          <a:xfrm>
            <a:off x="7912518" y="3448582"/>
            <a:ext cx="34875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81E"/>
              </a:buClr>
              <a:buSzPts val="4598"/>
              <a:buFont typeface="Cambria"/>
              <a:buNone/>
            </a:pPr>
            <a:r>
              <a:rPr b="1" i="0" lang="en-US" sz="4598" u="none" cap="none" strike="noStrike">
                <a:solidFill>
                  <a:srgbClr val="D9381E"/>
                </a:solidFill>
                <a:latin typeface="Cambria"/>
                <a:ea typeface="Cambria"/>
                <a:cs typeface="Cambria"/>
                <a:sym typeface="Cambria"/>
              </a:rPr>
              <a:t>20.19%</a:t>
            </a:r>
            <a:endParaRPr b="0" i="0" sz="45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912518" y="4136528"/>
            <a:ext cx="34875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6"/>
              <a:buFont typeface="Calibri"/>
              <a:buNone/>
            </a:pPr>
            <a:r>
              <a:rPr b="0" i="0" lang="en-US" sz="1306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Baseline no-show rate</a:t>
            </a:r>
            <a:endParaRPr b="0" i="0" sz="13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4"/>
          <p:cNvCxnSpPr/>
          <p:nvPr/>
        </p:nvCxnSpPr>
        <p:spPr>
          <a:xfrm>
            <a:off x="7912518" y="4642932"/>
            <a:ext cx="3487500" cy="0"/>
          </a:xfrm>
          <a:prstGeom prst="straightConnector1">
            <a:avLst/>
          </a:prstGeom>
          <a:noFill/>
          <a:ln cap="flat" cmpd="sng" w="13275">
            <a:solidFill>
              <a:srgbClr val="1B54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4"/>
          <p:cNvSpPr/>
          <p:nvPr/>
        </p:nvSpPr>
        <p:spPr>
          <a:xfrm>
            <a:off x="7912518" y="4834028"/>
            <a:ext cx="34875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53"/>
              <a:buFont typeface="Cambria"/>
              <a:buNone/>
            </a:pPr>
            <a:r>
              <a:rPr b="1" i="0" lang="en-US" sz="3553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81</a:t>
            </a:r>
            <a:endParaRPr b="0" i="0" sz="35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912518" y="5388206"/>
            <a:ext cx="34875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6"/>
              <a:buFont typeface="Calibri"/>
              <a:buNone/>
            </a:pPr>
            <a:r>
              <a:rPr b="0" i="0" lang="en-US" sz="1306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Regional health centres covered</a:t>
            </a:r>
            <a:endParaRPr b="0" i="0" sz="13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548640" y="337523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Industry Context &amp; Business 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1207411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None/>
            </a:pPr>
            <a:r>
              <a:rPr b="0" i="1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Non-attendance in outpatient clinics represents a major source of wasted clinical capacity and financial loss across the NHS.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50" y="2103125"/>
            <a:ext cx="3621000" cy="1417200"/>
          </a:xfrm>
          <a:prstGeom prst="roundRect">
            <a:avLst>
              <a:gd fmla="val 5161" name="adj"/>
            </a:avLst>
          </a:prstGeom>
          <a:solidFill>
            <a:srgbClr val="D9381E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48650" y="2240285"/>
            <a:ext cx="3621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20.19%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50" y="2926088"/>
            <a:ext cx="362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No-Show 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370806" y="2103125"/>
            <a:ext cx="36210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370806" y="2212853"/>
            <a:ext cx="3621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22,319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370806" y="2788927"/>
            <a:ext cx="362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Unfulfilled No-Shows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370811" y="3108969"/>
            <a:ext cx="3621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out of 110,527 scheduled appointments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192988" y="2103125"/>
            <a:ext cx="36210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192966" y="2212858"/>
            <a:ext cx="3621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05A9C"/>
                </a:solidFill>
                <a:latin typeface="Cambria"/>
                <a:ea typeface="Cambria"/>
                <a:cs typeface="Cambria"/>
                <a:sym typeface="Cambria"/>
              </a:rPr>
              <a:t>1 in 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434364" y="2816365"/>
            <a:ext cx="3138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consultation slots yields zero clinical output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8640" y="3794760"/>
            <a:ext cx="3639312" cy="224028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04672" y="4041648"/>
            <a:ext cx="502920" cy="502920"/>
          </a:xfrm>
          <a:prstGeom prst="ellipse">
            <a:avLst/>
          </a:prstGeom>
          <a:solidFill>
            <a:srgbClr val="D938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04672" y="40416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4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1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04672" y="4663440"/>
            <a:ext cx="3127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Clinical Idle Time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04672" y="5138928"/>
            <a:ext cx="31272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 in every 5 consultation slots yields zero clinical output, wasting scarce specialist capacity.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361688" y="3794760"/>
            <a:ext cx="3639312" cy="224028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617720" y="4041648"/>
            <a:ext cx="502920" cy="50292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617720" y="40416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4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↻</a:t>
            </a:r>
            <a:endParaRPr b="1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617720" y="4663440"/>
            <a:ext cx="3127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Waiting Queue Inflation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17720" y="5138928"/>
            <a:ext cx="31272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Missed consultations force patients back into scheduling queues, expanding regional waiting lists.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174736" y="3794760"/>
            <a:ext cx="3639312" cy="224028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30768" y="4041648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430768" y="40416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4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✉</a:t>
            </a:r>
            <a:endParaRPr b="1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430768" y="4663440"/>
            <a:ext cx="3127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Misleading Communication Metrics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430768" y="5138928"/>
            <a:ext cx="31272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Unadjusted aggregate data misleadingly suggested SMS reminders increased non-attendance, confusing management.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548640" y="396829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Enterprise Analytics Tech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31825" y="1344926"/>
            <a:ext cx="2724900" cy="3969900"/>
          </a:xfrm>
          <a:prstGeom prst="roundRect">
            <a:avLst>
              <a:gd fmla="val 268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382800" y="1619250"/>
            <a:ext cx="822900" cy="8229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382800" y="1619250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9"/>
              <a:buFont typeface="Calibri"/>
              <a:buNone/>
            </a:pPr>
            <a:r>
              <a:rPr b="1" i="0" lang="en-US" sz="1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96416" y="2579370"/>
            <a:ext cx="239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MySQL 8.0+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96416" y="3082290"/>
            <a:ext cx="239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5A9C"/>
                </a:solidFill>
                <a:latin typeface="Calibri"/>
                <a:ea typeface="Calibri"/>
                <a:cs typeface="Calibri"/>
                <a:sym typeface="Calibri"/>
              </a:rPr>
              <a:t>DATABASE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51281" y="3208432"/>
            <a:ext cx="22860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Enterprise relational database host for staging raw encounter records, schema constraints, and primary/foreign key definitions.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357908" y="1344926"/>
            <a:ext cx="2724900" cy="3969900"/>
          </a:xfrm>
          <a:prstGeom prst="roundRect">
            <a:avLst>
              <a:gd fmla="val 268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308880" y="1619250"/>
            <a:ext cx="822900" cy="822900"/>
          </a:xfrm>
          <a:prstGeom prst="ellipse">
            <a:avLst/>
          </a:prstGeom>
          <a:solidFill>
            <a:srgbClr val="00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308880" y="1619250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9"/>
              <a:buFont typeface="Calibri"/>
              <a:buNone/>
            </a:pPr>
            <a:r>
              <a:rPr b="1" i="0" lang="en-US" sz="1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522496" y="2579370"/>
            <a:ext cx="239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522496" y="3082290"/>
            <a:ext cx="239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DATA TRANSFORMATION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577364" y="3208432"/>
            <a:ext cx="22860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Scripted ETL pipeline for data type casting, string normalisation, lead-time calculation (DATEDIFF), and feature engineering (CASE WHEN).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283990" y="1344926"/>
            <a:ext cx="2724900" cy="3969900"/>
          </a:xfrm>
          <a:prstGeom prst="roundRect">
            <a:avLst>
              <a:gd fmla="val 268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234960" y="1619250"/>
            <a:ext cx="822900" cy="822900"/>
          </a:xfrm>
          <a:prstGeom prst="ellipse">
            <a:avLst/>
          </a:prstGeom>
          <a:solidFill>
            <a:srgbClr val="D938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234960" y="1619250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9"/>
              <a:buFont typeface="Calibri"/>
              <a:buNone/>
            </a:pPr>
            <a:r>
              <a:rPr b="1" i="0" lang="en-US" sz="1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448576" y="2579370"/>
            <a:ext cx="239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Power BI Desktop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448576" y="3082290"/>
            <a:ext cx="239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81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381E"/>
                </a:solidFill>
                <a:latin typeface="Calibri"/>
                <a:ea typeface="Calibri"/>
                <a:cs typeface="Calibri"/>
                <a:sym typeface="Calibri"/>
              </a:rPr>
              <a:t>BUSINESS 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503446" y="3208432"/>
            <a:ext cx="22860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Connected directly to the MySQL data mart via Power Query, modeling tabular relationships, custom DAX metrics, and interactive visuals.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9210073" y="1344926"/>
            <a:ext cx="2724900" cy="3969900"/>
          </a:xfrm>
          <a:prstGeom prst="roundRect">
            <a:avLst>
              <a:gd fmla="val 268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10161040" y="1619250"/>
            <a:ext cx="822900" cy="8229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10161040" y="1619250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9"/>
              <a:buFont typeface="Calibri"/>
              <a:buNone/>
            </a:pPr>
            <a:r>
              <a:rPr b="1" i="0" lang="en-US" sz="1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GH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374656" y="2579370"/>
            <a:ext cx="239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GitHub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9374656" y="3082290"/>
            <a:ext cx="239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VERSION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9429529" y="3208432"/>
            <a:ext cx="22860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Structured repository hosting SQL scripts, documentation, screenshots, and .pbix deliverables.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48640" y="5741418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1" lang="en-US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Additional staging layer: Power Query (M) — intermediate data transformation, date format standardisation, and column profiling.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1277295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548640" y="35226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Dataset Architecture &amp; Source Metadata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48640" y="1207770"/>
            <a:ext cx="36393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777240" y="1308354"/>
            <a:ext cx="318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5A9C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77240" y="1573530"/>
            <a:ext cx="318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NHS Outpatient Appointment Encounter Dataset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361688" y="1207770"/>
            <a:ext cx="36393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590288" y="1308354"/>
            <a:ext cx="318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5A9C"/>
                </a:solidFill>
                <a:latin typeface="Calibri"/>
                <a:ea typeface="Calibri"/>
                <a:cs typeface="Calibri"/>
                <a:sym typeface="Calibri"/>
              </a:rPr>
              <a:t>RECORD VOLUME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90288" y="1573530"/>
            <a:ext cx="318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110,527 raw → 110,526 cleaned rows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174736" y="1207770"/>
            <a:ext cx="36393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8403336" y="1308354"/>
            <a:ext cx="318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5A9C"/>
                </a:solidFill>
                <a:latin typeface="Calibri"/>
                <a:ea typeface="Calibri"/>
                <a:cs typeface="Calibri"/>
                <a:sym typeface="Calibri"/>
              </a:rPr>
              <a:t>GRANULARITY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8403336" y="1573530"/>
            <a:ext cx="318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1 row per AppointmentID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48640" y="24917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Key Raw Fields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7"/>
          <p:cNvGraphicFramePr/>
          <p:nvPr/>
        </p:nvGraphicFramePr>
        <p:xfrm>
          <a:off x="54864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{E3BFEC47-7294-45AE-9488-B0578DE8F62E}</a:tableStyleId>
              </a:tblPr>
              <a:tblGrid>
                <a:gridCol w="3657600"/>
                <a:gridCol w="74066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 Group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A9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A6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3A6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Unique Identifiers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73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PatientId, AppointmentID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A6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3A6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Demographics &amp; Location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73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Gender, Age, Neighbourhood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A6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3A6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Timestamps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73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ScheduledDay, AppointmentDay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A6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3A6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Medical Flags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73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Scholarship, Hipertension, Diabetes, Alcoholism, Handcap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A6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3A6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Outreach Flag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73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SMS_received (0 = No, 1 = Yes)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A6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3A6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Status Label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73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No-show ('Yes' / 'No')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548640" y="374904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Relational Database Design in MySQL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48640" y="1846089"/>
            <a:ext cx="292500" cy="2925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48640" y="1846089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4"/>
              <a:buFont typeface="Calibri"/>
              <a:buNone/>
            </a:pPr>
            <a:r>
              <a:rPr b="1" i="0" lang="en-US" sz="70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005840" y="1800369"/>
            <a:ext cx="493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Database Creation</a:t>
            </a:r>
            <a:br>
              <a:rPr b="1" i="0" lang="en-US" sz="14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Created NHS_Outpatient_DB configured with utf8mb4 encoding (database_creation.sql).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2998614"/>
            <a:ext cx="292500" cy="2925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48640" y="2998614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4"/>
              <a:buFont typeface="Calibri"/>
              <a:buNone/>
            </a:pPr>
            <a:r>
              <a:rPr b="1" i="0" lang="en-US" sz="70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005840" y="2952894"/>
            <a:ext cx="493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Staging Schema (raw_appointments)</a:t>
            </a:r>
            <a:br>
              <a:rPr b="1" i="0" lang="en-US" sz="14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Created initial landing table reflecting raw CSV structure with exact datatypes (table_creation.sql).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48640" y="4198764"/>
            <a:ext cx="292500" cy="2925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548640" y="4198764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4"/>
              <a:buFont typeface="Calibri"/>
              <a:buNone/>
            </a:pPr>
            <a:r>
              <a:rPr b="1" i="0" lang="en-US" sz="70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005840" y="4153044"/>
            <a:ext cx="493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Data Integrity Checks</a:t>
            </a:r>
            <a:br>
              <a:rPr b="1" i="0" lang="en-US" sz="14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Verified primary key uniqueness on AppointmentID and enforced NOT NULL constraints across demographic attributes.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172200" y="1508760"/>
            <a:ext cx="5440680" cy="4526280"/>
          </a:xfrm>
          <a:prstGeom prst="roundRect">
            <a:avLst>
              <a:gd fmla="val 1212" name="adj"/>
            </a:avLst>
          </a:prstGeom>
          <a:solidFill>
            <a:srgbClr val="0F2A44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6579000" y="1655075"/>
            <a:ext cx="47610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br>
              <a:rPr lang="en-US" sz="1350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350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CREATE DATABASE IF NOT EXISTS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NHS_Outpatient_DB;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USE NHS_Outpatient_DB;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raw_appointments (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  PatientId       BIGINT NOT NULL,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  AppointmentID   BIGINT NOT NULL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PRIMARY KEY,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  Gender          VARCHAR(10) NOT NULL,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  ScheduledDay    DATETIME NOT NULL,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548640" y="298704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Connecting MySQL to Power BI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48640" y="1463040"/>
            <a:ext cx="53949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777240" y="155448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A9C"/>
                </a:solidFill>
                <a:latin typeface="Cambria"/>
                <a:ea typeface="Cambria"/>
                <a:cs typeface="Cambria"/>
                <a:sym typeface="Cambria"/>
              </a:rPr>
              <a:t>Data Connector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77240" y="1847088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Utilized Power BI's native MySQL Database Connector via Database → MySQL Database.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48640" y="2633472"/>
            <a:ext cx="53949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777240" y="272491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A9C"/>
                </a:solidFill>
                <a:latin typeface="Cambria"/>
                <a:ea typeface="Cambria"/>
                <a:cs typeface="Cambria"/>
                <a:sym typeface="Cambria"/>
              </a:rPr>
              <a:t>Connection Protocol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77240" y="30175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Specified Server (localhost:3306) and Database (NHS_Outpatient_DB).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48640" y="3803904"/>
            <a:ext cx="53949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777240" y="38953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A9C"/>
                </a:solidFill>
                <a:latin typeface="Cambria"/>
                <a:ea typeface="Cambria"/>
                <a:cs typeface="Cambria"/>
                <a:sym typeface="Cambria"/>
              </a:rPr>
              <a:t>Import Mode (Selected)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77240" y="4187952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Ingested data into Power BI's in-memory VertiPaq engine for high-performance DAX calculations and offline dashboard rendering.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48640" y="4974336"/>
            <a:ext cx="53949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777240" y="5065776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A9C"/>
                </a:solidFill>
                <a:latin typeface="Cambria"/>
                <a:ea typeface="Cambria"/>
                <a:cs typeface="Cambria"/>
                <a:sym typeface="Cambria"/>
              </a:rPr>
              <a:t>Authentication &amp; Security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777240" y="5358384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Managed database user credentials using encrypted native database authentication.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92250" y="1463050"/>
            <a:ext cx="5120700" cy="893700"/>
          </a:xfrm>
          <a:prstGeom prst="roundRect">
            <a:avLst>
              <a:gd fmla="val 8421" name="adj"/>
            </a:avLst>
          </a:prstGeom>
          <a:solidFill>
            <a:srgbClr val="005A9C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492250" y="1463050"/>
            <a:ext cx="51207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MySQL Server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823963" y="2356813"/>
            <a:ext cx="457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492250" y="2686094"/>
            <a:ext cx="5120700" cy="893700"/>
          </a:xfrm>
          <a:prstGeom prst="roundRect">
            <a:avLst>
              <a:gd fmla="val 8421" name="adj"/>
            </a:avLst>
          </a:prstGeom>
          <a:solidFill>
            <a:srgbClr val="003A63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6492250" y="2686094"/>
            <a:ext cx="51207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Power BI Connector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8823963" y="3579858"/>
            <a:ext cx="457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92250" y="3909139"/>
            <a:ext cx="5120700" cy="893700"/>
          </a:xfrm>
          <a:prstGeom prst="roundRect">
            <a:avLst>
              <a:gd fmla="val 8421" name="adj"/>
            </a:avLst>
          </a:prstGeom>
          <a:solidFill>
            <a:srgbClr val="D9381E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492250" y="3909139"/>
            <a:ext cx="51207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Power Query Staging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823963" y="4802902"/>
            <a:ext cx="457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492250" y="5132183"/>
            <a:ext cx="5120700" cy="893700"/>
          </a:xfrm>
          <a:prstGeom prst="roundRect">
            <a:avLst>
              <a:gd fmla="val 8421" name="adj"/>
            </a:avLst>
          </a:prstGeom>
          <a:solidFill>
            <a:srgbClr val="2E7D32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492250" y="5132183"/>
            <a:ext cx="51207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VertiPaq Data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548640" y="320989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Data Ingestion &amp; Power Query ETL Transformations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48650" y="1302875"/>
            <a:ext cx="2690400" cy="3549900"/>
          </a:xfrm>
          <a:prstGeom prst="roundRect">
            <a:avLst>
              <a:gd fmla="val 268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774358" y="1577195"/>
            <a:ext cx="496500" cy="5028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774358" y="1577195"/>
            <a:ext cx="496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747273" y="2235563"/>
            <a:ext cx="229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Data Ingestion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747273" y="2442827"/>
            <a:ext cx="229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Loaded clean_appointments table generated from the MySQL script into Power Query Editor.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3437700" y="1302875"/>
            <a:ext cx="2690400" cy="3549900"/>
          </a:xfrm>
          <a:prstGeom prst="roundRect">
            <a:avLst>
              <a:gd fmla="val 268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3663416" y="1577195"/>
            <a:ext cx="496500" cy="5028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3663416" y="1577195"/>
            <a:ext cx="496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3636331" y="2235563"/>
            <a:ext cx="229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Column Profiling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636331" y="2442827"/>
            <a:ext cx="229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Checked data distributions, column quality, and zero-null assertions across 110,526 rows.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326775" y="1302875"/>
            <a:ext cx="2690400" cy="3549900"/>
          </a:xfrm>
          <a:prstGeom prst="roundRect">
            <a:avLst>
              <a:gd fmla="val 268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6552475" y="1577195"/>
            <a:ext cx="496500" cy="5028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6552475" y="1577195"/>
            <a:ext cx="496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525390" y="2235563"/>
            <a:ext cx="229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Type Enforcement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525390" y="2566652"/>
            <a:ext cx="229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Standardized date formats (Date type for scheduled_date and appointments_date), integer types for metrics, and text types for categorical slicers.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9215825" y="1302875"/>
            <a:ext cx="2690400" cy="3549900"/>
          </a:xfrm>
          <a:prstGeom prst="roundRect">
            <a:avLst>
              <a:gd fmla="val 2685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9441534" y="1577195"/>
            <a:ext cx="496500" cy="5028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9441534" y="1577195"/>
            <a:ext cx="496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9414449" y="2235563"/>
            <a:ext cx="229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Data Model Setup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9414449" y="2385677"/>
            <a:ext cx="229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Formatted numerical values (percentage formats for rates, whole number for encounter counts).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77225" y="5374300"/>
            <a:ext cx="11357700" cy="777300"/>
          </a:xfrm>
          <a:prstGeom prst="roundRect">
            <a:avLst>
              <a:gd fmla="val 9412" name="adj"/>
            </a:avLst>
          </a:prstGeom>
          <a:solidFill>
            <a:srgbClr val="E8F1F8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851535" y="5374293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05A9C"/>
                </a:solidFill>
                <a:latin typeface="Calibri"/>
                <a:ea typeface="Calibri"/>
                <a:cs typeface="Calibri"/>
                <a:sym typeface="Calibri"/>
              </a:rPr>
              <a:t>Mock: Power Query Editor — Applied Steps panel showing column type changes, filtered rows, and renamed columns in sequence.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548640" y="374904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SQL &amp; ETL Data Cleaning Transformations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48650" y="1223425"/>
            <a:ext cx="5394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6172202" y="1223425"/>
            <a:ext cx="5440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48650" y="1558854"/>
            <a:ext cx="5394900" cy="872100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6" name="Google Shape;226;p11"/>
          <p:cNvSpPr/>
          <p:nvPr/>
        </p:nvSpPr>
        <p:spPr>
          <a:xfrm>
            <a:off x="777250" y="1558854"/>
            <a:ext cx="49377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Age (raw)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6172202" y="1558854"/>
            <a:ext cx="5440800" cy="872100"/>
          </a:xfrm>
          <a:prstGeom prst="roundRect">
            <a:avLst>
              <a:gd fmla="val 8791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8" name="Google Shape;228;p11"/>
          <p:cNvSpPr/>
          <p:nvPr/>
        </p:nvSpPr>
        <p:spPr>
          <a:xfrm>
            <a:off x="6400802" y="1558854"/>
            <a:ext cx="49836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Age ≥ 0 (anomaly removed)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48650" y="2565139"/>
            <a:ext cx="5394900" cy="872100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0" name="Google Shape;230;p11"/>
          <p:cNvSpPr/>
          <p:nvPr/>
        </p:nvSpPr>
        <p:spPr>
          <a:xfrm>
            <a:off x="777250" y="2565139"/>
            <a:ext cx="49377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ScheduledDay / AppointmentDay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172202" y="2565139"/>
            <a:ext cx="5440800" cy="872100"/>
          </a:xfrm>
          <a:prstGeom prst="roundRect">
            <a:avLst>
              <a:gd fmla="val 8791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2" name="Google Shape;232;p11"/>
          <p:cNvSpPr/>
          <p:nvPr/>
        </p:nvSpPr>
        <p:spPr>
          <a:xfrm>
            <a:off x="6400802" y="2565139"/>
            <a:ext cx="49836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lead_time_days = DATEDIFF(...)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548650" y="3571425"/>
            <a:ext cx="5394900" cy="872100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4" name="Google Shape;234;p11"/>
          <p:cNvSpPr/>
          <p:nvPr/>
        </p:nvSpPr>
        <p:spPr>
          <a:xfrm>
            <a:off x="777250" y="3571425"/>
            <a:ext cx="49377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Age (continuous)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6172202" y="3571425"/>
            <a:ext cx="5440800" cy="872100"/>
          </a:xfrm>
          <a:prstGeom prst="roundRect">
            <a:avLst>
              <a:gd fmla="val 8791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6" name="Google Shape;236;p11"/>
          <p:cNvSpPr/>
          <p:nvPr/>
        </p:nvSpPr>
        <p:spPr>
          <a:xfrm>
            <a:off x="6400802" y="3571425"/>
            <a:ext cx="49836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6 lead-time tiers + 4 age cohorts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48650" y="4577711"/>
            <a:ext cx="5394900" cy="872100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8" name="Google Shape;238;p11"/>
          <p:cNvSpPr/>
          <p:nvPr/>
        </p:nvSpPr>
        <p:spPr>
          <a:xfrm>
            <a:off x="777250" y="4577711"/>
            <a:ext cx="49377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Hipertension, Diabetes,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Alcoholism, Handcap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172202" y="4577711"/>
            <a:ext cx="5440800" cy="872100"/>
          </a:xfrm>
          <a:prstGeom prst="roundRect">
            <a:avLst>
              <a:gd fmla="val 8791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0" name="Google Shape;240;p11"/>
          <p:cNvSpPr/>
          <p:nvPr/>
        </p:nvSpPr>
        <p:spPr>
          <a:xfrm>
            <a:off x="6400802" y="4577711"/>
            <a:ext cx="49836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has_chronic_condition (composite flag)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5A9C"/>
              </a:buClr>
              <a:buSzPts val="1100"/>
              <a:buFont typeface="Courier New"/>
              <a:buNone/>
            </a:pPr>
            <a:r>
              <a:rPr lang="en-US" sz="1500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500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lead_time_days</a:t>
            </a:r>
            <a:r>
              <a:rPr b="0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 = DATEDIFF(AppointmentDay, ScheduledDay)   </a:t>
            </a:r>
            <a:br>
              <a:rPr b="0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• 6 </a:t>
            </a:r>
            <a:r>
              <a:rPr lang="en-US" sz="1500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tier</a:t>
            </a:r>
            <a:r>
              <a:rPr b="0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s: 0 Days (Same Day), 1–3, 4–7, 8–14, 15–30, 31+ Days   </a:t>
            </a:r>
            <a:br>
              <a:rPr b="0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• 4 </a:t>
            </a:r>
            <a:r>
              <a:rPr lang="en-US" sz="1500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ge</a:t>
            </a:r>
            <a:r>
              <a:rPr lang="en-US" sz="1500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b="0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cohorts: 0–17 Pediatric, 18–35 Young Adult, 36–60 Adult, 61+ Senior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548640" y="298704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Core DAX KPI Metrics in Power BI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548640" y="1218841"/>
            <a:ext cx="5440800" cy="18744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777240" y="1346857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Total Appointments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4572000" y="1310281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38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D9381E"/>
                </a:solidFill>
                <a:latin typeface="Cambria"/>
                <a:ea typeface="Cambria"/>
                <a:cs typeface="Cambria"/>
                <a:sym typeface="Cambria"/>
              </a:rPr>
              <a:t>110,526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731520" y="1749193"/>
            <a:ext cx="5074800" cy="1161300"/>
          </a:xfrm>
          <a:prstGeom prst="roundRect">
            <a:avLst>
              <a:gd fmla="val 4724" name="adj"/>
            </a:avLst>
          </a:prstGeom>
          <a:solidFill>
            <a:srgbClr val="0F2A44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986688" y="1949497"/>
            <a:ext cx="4672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Total Appointments =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COUNT(clean_appointments[appointment_id])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172200" y="1218841"/>
            <a:ext cx="5440800" cy="18744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6400800" y="1346857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Total No Shows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10195560" y="131004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38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D9381E"/>
                </a:solidFill>
                <a:latin typeface="Cambria"/>
                <a:ea typeface="Cambria"/>
                <a:cs typeface="Cambria"/>
                <a:sym typeface="Cambria"/>
              </a:rPr>
              <a:t>22,319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6355080" y="1749193"/>
            <a:ext cx="5074800" cy="1161300"/>
          </a:xfrm>
          <a:prstGeom prst="roundRect">
            <a:avLst>
              <a:gd fmla="val 4724" name="adj"/>
            </a:avLst>
          </a:prstGeom>
          <a:solidFill>
            <a:srgbClr val="0F2A44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6619248" y="1976497"/>
            <a:ext cx="4672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Total No Shows =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SUM(clean_appointments[is_noshow])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48640" y="3239665"/>
            <a:ext cx="5440800" cy="18744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777240" y="3367681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Total Attended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4572000" y="3331105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38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D9381E"/>
                </a:solidFill>
                <a:latin typeface="Cambria"/>
                <a:ea typeface="Cambria"/>
                <a:cs typeface="Cambria"/>
                <a:sym typeface="Cambria"/>
              </a:rPr>
              <a:t>88,207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731520" y="3770017"/>
            <a:ext cx="5074800" cy="1161300"/>
          </a:xfrm>
          <a:prstGeom prst="roundRect">
            <a:avLst>
              <a:gd fmla="val 4724" name="adj"/>
            </a:avLst>
          </a:prstGeom>
          <a:solidFill>
            <a:srgbClr val="0F2A44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968688" y="3952321"/>
            <a:ext cx="4672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Total Attended =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[Total Appointments] - [Total No Shows]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172200" y="3239665"/>
            <a:ext cx="5440800" cy="18744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6400800" y="3367681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No Show Rate %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10195560" y="3300264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38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D9381E"/>
                </a:solidFill>
                <a:latin typeface="Cambria"/>
                <a:ea typeface="Cambria"/>
                <a:cs typeface="Cambria"/>
                <a:sym typeface="Cambria"/>
              </a:rPr>
              <a:t>20.19%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355080" y="3770017"/>
            <a:ext cx="5074800" cy="1161300"/>
          </a:xfrm>
          <a:prstGeom prst="roundRect">
            <a:avLst>
              <a:gd fmla="val 4724" name="adj"/>
            </a:avLst>
          </a:prstGeom>
          <a:solidFill>
            <a:srgbClr val="0F2A44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6583248" y="3943321"/>
            <a:ext cx="4672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No Show Rate % =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DIVIDE([Total No Shows],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  [Total Appointments], 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48640" y="5413248"/>
            <a:ext cx="11064240" cy="658368"/>
          </a:xfrm>
          <a:prstGeom prst="roundRect">
            <a:avLst>
              <a:gd fmla="val 11111" name="adj"/>
            </a:avLst>
          </a:prstGeom>
          <a:solidFill>
            <a:srgbClr val="003A63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822960" y="5413248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Same Day No Show Rate % = </a:t>
            </a:r>
            <a:r>
              <a:rPr b="0" i="0" lang="en-US" sz="11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CALCULATE([No Show Rate %], clean_appointments[lead_time_category] = "0 Days (Same Day)")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>
            <a:off x="548640" y="193929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2-Page BI Dashboard Design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48640" y="885345"/>
            <a:ext cx="1106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Built a structured 2-page executive report tailored for clinical leads and operations boards, following a top-to-bottom Z-pattern with global slicer headers, executive KPI scorecards, and lower detail visual grids.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1387022" y="1558750"/>
            <a:ext cx="3126000" cy="3794400"/>
          </a:xfrm>
          <a:prstGeom prst="roundRect">
            <a:avLst>
              <a:gd fmla="val 2400" name="adj"/>
            </a:avLst>
          </a:prstGeom>
          <a:solidFill>
            <a:srgbClr val="E8F1F8"/>
          </a:solidFill>
          <a:ln cap="flat" cmpd="sng" w="1720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575" lIns="82575" spcFirstLastPara="1" rIns="82575" wrap="square" tIns="8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</p:txBody>
      </p:sp>
      <p:sp>
        <p:nvSpPr>
          <p:cNvPr id="280" name="Google Shape;280;p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3" title="Operational Executive Over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6163" y="1711619"/>
            <a:ext cx="2785550" cy="3494259"/>
          </a:xfrm>
          <a:prstGeom prst="rect">
            <a:avLst/>
          </a:prstGeom>
          <a:noFill/>
          <a:ln cap="flat" cmpd="sng" w="86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2" name="Google Shape;282;p13"/>
          <p:cNvSpPr txBox="1"/>
          <p:nvPr/>
        </p:nvSpPr>
        <p:spPr>
          <a:xfrm>
            <a:off x="810975" y="5495637"/>
            <a:ext cx="49881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0000" spcFirstLastPara="1" rIns="90000" wrap="square" tIns="90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7"/>
              <a:t>Page 1 — Operational Executive Overview</a:t>
            </a:r>
            <a:endParaRPr b="1" sz="142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78"/>
              <a:t>Focuses on overall macro KPIs, attendance decay across lead times, weekday distribution, and attendance ratios.</a:t>
            </a:r>
            <a:endParaRPr sz="1378"/>
          </a:p>
        </p:txBody>
      </p:sp>
      <p:sp>
        <p:nvSpPr>
          <p:cNvPr id="283" name="Google Shape;283;p13"/>
          <p:cNvSpPr/>
          <p:nvPr/>
        </p:nvSpPr>
        <p:spPr>
          <a:xfrm>
            <a:off x="6135030" y="5636857"/>
            <a:ext cx="53220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27"/>
              <a:buFont typeface="Cambria"/>
              <a:buNone/>
            </a:pPr>
            <a:r>
              <a:rPr b="1" lang="en-US" sz="1427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Page 2 — Strategic Intervention &amp; Clinical Risk Cohorts</a:t>
            </a:r>
            <a:endParaRPr sz="142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83"/>
              <a:buFont typeface="Calibri"/>
              <a:buNone/>
            </a:pPr>
            <a:br>
              <a:rPr lang="en-US" sz="137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Deep-dives into Simpson's Paradox (SMS efficiency), geographic neighbourhood clinic heatmaps, and chronic illness compliance profiles.</a:t>
            </a:r>
            <a:endParaRPr b="0" i="0" sz="13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6655832" y="1558750"/>
            <a:ext cx="3126000" cy="3794400"/>
          </a:xfrm>
          <a:prstGeom prst="roundRect">
            <a:avLst>
              <a:gd fmla="val 2400" name="adj"/>
            </a:avLst>
          </a:prstGeom>
          <a:solidFill>
            <a:srgbClr val="E8F1F8"/>
          </a:solidFill>
          <a:ln cap="flat" cmpd="sng" w="1720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575" lIns="82575" spcFirstLastPara="1" rIns="82575" wrap="square" tIns="8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4"/>
          </a:p>
        </p:txBody>
      </p:sp>
      <p:pic>
        <p:nvPicPr>
          <p:cNvPr id="285" name="Google Shape;285;p13" title="Strategic Intervention &amp; Clinical Risk Cohor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2697" y="1742919"/>
            <a:ext cx="2785541" cy="3488631"/>
          </a:xfrm>
          <a:prstGeom prst="rect">
            <a:avLst/>
          </a:prstGeom>
          <a:solidFill>
            <a:srgbClr val="E8F1F8"/>
          </a:solidFill>
          <a:ln cap="flat" cmpd="sng" w="17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/>
          <p:nvPr/>
        </p:nvSpPr>
        <p:spPr>
          <a:xfrm>
            <a:off x="548640" y="298704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Key Dashboard Visualizations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548650" y="1657950"/>
            <a:ext cx="5440800" cy="4295100"/>
          </a:xfrm>
          <a:prstGeom prst="roundRect">
            <a:avLst>
              <a:gd fmla="val 1481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548650" y="1505550"/>
            <a:ext cx="5440800" cy="519900"/>
          </a:xfrm>
          <a:prstGeom prst="roundRect">
            <a:avLst>
              <a:gd fmla="val 14545" name="adj"/>
            </a:avLst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548650" y="1505550"/>
            <a:ext cx="54408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Page 1 — Core Visuals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804682" y="2191260"/>
            <a:ext cx="91500" cy="945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1005849" y="2366950"/>
            <a:ext cx="47091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Scorecard Banner — Total Appointments (110,526), Total No-Shows (22,319), No-Show Rate (20.19%)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804682" y="3077180"/>
            <a:ext cx="91500" cy="945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1005849" y="3230010"/>
            <a:ext cx="47091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Horizontal Bar Chart — No-Show Rate % by lead_time_category (attendance decay)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804682" y="3848800"/>
            <a:ext cx="91500" cy="945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1005849" y="4001630"/>
            <a:ext cx="47091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Column Chart — No-Show Rate % by appointment_day_of_week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804672" y="4520184"/>
            <a:ext cx="91500" cy="915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1005840" y="4674870"/>
            <a:ext cx="4709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Donut Chart — Attendance proportion share across weekday schedules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6172200" y="1657950"/>
            <a:ext cx="5440800" cy="4295100"/>
          </a:xfrm>
          <a:prstGeom prst="roundRect">
            <a:avLst>
              <a:gd fmla="val 1481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6172202" y="1505550"/>
            <a:ext cx="5440800" cy="519900"/>
          </a:xfrm>
          <a:prstGeom prst="roundRect">
            <a:avLst>
              <a:gd fmla="val 14545" name="adj"/>
            </a:avLst>
          </a:prstGeom>
          <a:solidFill>
            <a:srgbClr val="D938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6172202" y="1505550"/>
            <a:ext cx="54408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Page 2 — Core Visuals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6428234" y="2400810"/>
            <a:ext cx="91500" cy="94500"/>
          </a:xfrm>
          <a:prstGeom prst="ellipse">
            <a:avLst/>
          </a:prstGeom>
          <a:solidFill>
            <a:srgbClr val="D938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6629402" y="2366950"/>
            <a:ext cx="47091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Grouped Bar Chart — No-Show Rate % by sms_received across lead_time_category (resolves Simpson's Paradox)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6428234" y="3570330"/>
            <a:ext cx="91500" cy="94500"/>
          </a:xfrm>
          <a:prstGeom prst="ellipse">
            <a:avLst/>
          </a:prstGeom>
          <a:solidFill>
            <a:srgbClr val="D938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6629402" y="3513610"/>
            <a:ext cx="47091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Heatmap Table — Top 10 neighbourhood clinics ranked by volume and no-show rate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6428232" y="4396359"/>
            <a:ext cx="91500" cy="91500"/>
          </a:xfrm>
          <a:prstGeom prst="ellipse">
            <a:avLst/>
          </a:prstGeom>
          <a:solidFill>
            <a:srgbClr val="D938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6629400" y="4341495"/>
            <a:ext cx="4709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Stacked Bar Chart — Attendance status distribution across has_chronic_condition cohorts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/>
          <p:nvPr/>
        </p:nvSpPr>
        <p:spPr>
          <a:xfrm>
            <a:off x="548640" y="298704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Interactive Filtering &amp; Slicing Controls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548650" y="1120925"/>
            <a:ext cx="110643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Every dashboard page features top-aligned interactive slicer dropdowns for real-time cohort filtering.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548650" y="1725080"/>
            <a:ext cx="5440800" cy="44940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21" name="Google Shape;321;p15"/>
          <p:cNvSpPr/>
          <p:nvPr/>
        </p:nvSpPr>
        <p:spPr>
          <a:xfrm>
            <a:off x="548650" y="1725080"/>
            <a:ext cx="5440800" cy="537300"/>
          </a:xfrm>
          <a:prstGeom prst="roundRect">
            <a:avLst>
              <a:gd fmla="val 14545" name="adj"/>
            </a:avLst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548650" y="1725080"/>
            <a:ext cx="54408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Page 1 Slicers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868690" y="2457774"/>
            <a:ext cx="4800600" cy="605700"/>
          </a:xfrm>
          <a:prstGeom prst="roundRect">
            <a:avLst>
              <a:gd fmla="val 50000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24" name="Google Shape;324;p15"/>
          <p:cNvSpPr/>
          <p:nvPr/>
        </p:nvSpPr>
        <p:spPr>
          <a:xfrm>
            <a:off x="1097290" y="2457774"/>
            <a:ext cx="4389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150"/>
              <a:buFont typeface="Calibri"/>
              <a:buNone/>
            </a:pPr>
            <a:r>
              <a:rPr b="1" i="0" lang="en-US" sz="13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appointment_day_of_week  ( </a:t>
            </a:r>
            <a:r>
              <a:rPr b="0" i="0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Mon–Sat </a:t>
            </a:r>
            <a:r>
              <a:rPr b="1" lang="en-US" sz="1300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868690" y="3219776"/>
            <a:ext cx="4800600" cy="605700"/>
          </a:xfrm>
          <a:prstGeom prst="roundRect">
            <a:avLst>
              <a:gd fmla="val 50000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26" name="Google Shape;326;p15"/>
          <p:cNvSpPr/>
          <p:nvPr/>
        </p:nvSpPr>
        <p:spPr>
          <a:xfrm>
            <a:off x="1097290" y="3219776"/>
            <a:ext cx="4389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150"/>
              <a:buFont typeface="Calibri"/>
              <a:buNone/>
            </a:pPr>
            <a:r>
              <a:rPr b="1" i="0" lang="en-US" sz="13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age_group  ( </a:t>
            </a:r>
            <a:r>
              <a:rPr b="0" i="0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Pediatric / Young Adult / Adult / Senior </a:t>
            </a:r>
            <a:r>
              <a:rPr b="1" lang="en-US" sz="1300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868690" y="3981778"/>
            <a:ext cx="4800600" cy="605700"/>
          </a:xfrm>
          <a:prstGeom prst="roundRect">
            <a:avLst>
              <a:gd fmla="val 50000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28" name="Google Shape;328;p15"/>
          <p:cNvSpPr/>
          <p:nvPr/>
        </p:nvSpPr>
        <p:spPr>
          <a:xfrm>
            <a:off x="1097290" y="3981778"/>
            <a:ext cx="4389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150"/>
              <a:buFont typeface="Calibri"/>
              <a:buNone/>
            </a:pPr>
            <a:r>
              <a:rPr b="1" i="0" lang="en-US" sz="13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lead_time_category  </a:t>
            </a:r>
            <a:r>
              <a:rPr b="1" lang="en-US" sz="1300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( </a:t>
            </a:r>
            <a:r>
              <a:rPr b="0" i="0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 Days – 31+ Days </a:t>
            </a:r>
            <a:r>
              <a:rPr b="1" lang="en-US" sz="1300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868690" y="4743779"/>
            <a:ext cx="4800600" cy="605700"/>
          </a:xfrm>
          <a:prstGeom prst="roundRect">
            <a:avLst>
              <a:gd fmla="val 50000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30" name="Google Shape;330;p15"/>
          <p:cNvSpPr/>
          <p:nvPr/>
        </p:nvSpPr>
        <p:spPr>
          <a:xfrm>
            <a:off x="1097290" y="4743779"/>
            <a:ext cx="4389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150"/>
              <a:buFont typeface="Calibri"/>
              <a:buNone/>
            </a:pPr>
            <a:r>
              <a:rPr b="1" i="0" lang="en-US" sz="13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has_chronic_condition  ( </a:t>
            </a:r>
            <a:r>
              <a:rPr b="0" i="0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Binary flag </a:t>
            </a:r>
            <a:r>
              <a:rPr b="1" lang="en-US" sz="1300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6172205" y="1725080"/>
            <a:ext cx="5440800" cy="44940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32" name="Google Shape;332;p15"/>
          <p:cNvSpPr/>
          <p:nvPr/>
        </p:nvSpPr>
        <p:spPr>
          <a:xfrm>
            <a:off x="6172205" y="1725080"/>
            <a:ext cx="5440800" cy="537300"/>
          </a:xfrm>
          <a:prstGeom prst="roundRect">
            <a:avLst>
              <a:gd fmla="val 14545" name="adj"/>
            </a:avLst>
          </a:prstGeom>
          <a:solidFill>
            <a:srgbClr val="D938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6172205" y="1725080"/>
            <a:ext cx="54408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Page 2 Slicers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6492245" y="2457774"/>
            <a:ext cx="4800600" cy="605700"/>
          </a:xfrm>
          <a:prstGeom prst="roundRect">
            <a:avLst>
              <a:gd fmla="val 50000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35" name="Google Shape;335;p15"/>
          <p:cNvSpPr/>
          <p:nvPr/>
        </p:nvSpPr>
        <p:spPr>
          <a:xfrm>
            <a:off x="6720844" y="2457774"/>
            <a:ext cx="4389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150"/>
              <a:buFont typeface="Calibri"/>
              <a:buNone/>
            </a:pPr>
            <a:r>
              <a:rPr b="1" i="0" lang="en-US" sz="13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gender  ( </a:t>
            </a:r>
            <a:r>
              <a:rPr b="0" i="0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Female / Male </a:t>
            </a:r>
            <a:r>
              <a:rPr b="1" lang="en-US" sz="1300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6492245" y="3219776"/>
            <a:ext cx="4800600" cy="605700"/>
          </a:xfrm>
          <a:prstGeom prst="roundRect">
            <a:avLst>
              <a:gd fmla="val 50000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37" name="Google Shape;337;p15"/>
          <p:cNvSpPr/>
          <p:nvPr/>
        </p:nvSpPr>
        <p:spPr>
          <a:xfrm>
            <a:off x="6720844" y="3219776"/>
            <a:ext cx="4389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150"/>
              <a:buFont typeface="Calibri"/>
              <a:buNone/>
            </a:pPr>
            <a:r>
              <a:rPr b="1" i="0" lang="en-US" sz="13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neighbourhood ( </a:t>
            </a:r>
            <a:r>
              <a:rPr b="0" i="0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81 regional clinic locations </a:t>
            </a:r>
            <a:r>
              <a:rPr b="1" lang="en-US" sz="1300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6492245" y="3981778"/>
            <a:ext cx="4800600" cy="605700"/>
          </a:xfrm>
          <a:prstGeom prst="roundRect">
            <a:avLst>
              <a:gd fmla="val 50000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39" name="Google Shape;339;p15"/>
          <p:cNvSpPr/>
          <p:nvPr/>
        </p:nvSpPr>
        <p:spPr>
          <a:xfrm>
            <a:off x="6720844" y="3981778"/>
            <a:ext cx="4389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150"/>
              <a:buFont typeface="Calibri"/>
              <a:buNone/>
            </a:pPr>
            <a:r>
              <a:rPr b="1" i="0" lang="en-US" sz="13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sms_received ( </a:t>
            </a:r>
            <a:r>
              <a:rPr b="0" i="0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 = No SMS / 1 = SMS Sent </a:t>
            </a:r>
            <a:r>
              <a:rPr b="1" lang="en-US" sz="1300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/>
          <p:nvPr/>
        </p:nvSpPr>
        <p:spPr>
          <a:xfrm>
            <a:off x="548640" y="365904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Strategic Business Insights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548640" y="1310640"/>
            <a:ext cx="5440800" cy="233160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804672" y="1566672"/>
            <a:ext cx="457200" cy="45720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804672" y="1566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1463040" y="1548384"/>
            <a:ext cx="425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Simpson's Paradox Uncovered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804672" y="2179320"/>
            <a:ext cx="49287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Aggregate data showed SMS receivers had higher no-shows (27.57% vs 16.70%). Controlling for lead time proves SMS reminders reduce non-attendance across every lead-time category — up to +7.44% attendance lift for 15–30 day bookings.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6172200" y="1310640"/>
            <a:ext cx="5440800" cy="233160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6428232" y="1566672"/>
            <a:ext cx="457200" cy="457200"/>
          </a:xfrm>
          <a:prstGeom prst="ellipse">
            <a:avLst/>
          </a:prstGeom>
          <a:solidFill>
            <a:srgbClr val="D938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6428232" y="1566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7086600" y="1548384"/>
            <a:ext cx="425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Booking Lead-Time Decay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6428232" y="2179320"/>
            <a:ext cx="49287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Attendance drops sharply as lead time increases — from 4.65% no-show rate for same-day bookings up to 32.59% for 15–30 day bookings.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548640" y="3825240"/>
            <a:ext cx="5440800" cy="233160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804672" y="408127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804672" y="40812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1463040" y="4062984"/>
            <a:ext cx="425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Chronic Illness Compliance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804672" y="4846320"/>
            <a:ext cx="492861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Chronically ill patients achieve an 82.14% attendance rate (17.86% no-show rate), outperforming non-chronic patients (20.93% no-show rate).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6172200" y="3825240"/>
            <a:ext cx="5440800" cy="233160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6428232" y="4081272"/>
            <a:ext cx="457200" cy="457200"/>
          </a:xfrm>
          <a:prstGeom prst="ellipse">
            <a:avLst/>
          </a:prstGeom>
          <a:solidFill>
            <a:srgbClr val="00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6"/>
          <p:cNvSpPr/>
          <p:nvPr/>
        </p:nvSpPr>
        <p:spPr>
          <a:xfrm>
            <a:off x="6428232" y="40812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7086600" y="4062984"/>
            <a:ext cx="425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Geographic Variance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6428232" y="4846320"/>
            <a:ext cx="492861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High-volume clinics exhibit severe variance: Itararé experiences a 26.27% no-show rate compared to Santa Martha at 15.84%.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A63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"/>
          <p:cNvSpPr/>
          <p:nvPr/>
        </p:nvSpPr>
        <p:spPr>
          <a:xfrm>
            <a:off x="548640" y="329904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End-to-End Analytics Execution Workflow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548640" y="1417320"/>
            <a:ext cx="5394960" cy="987552"/>
          </a:xfrm>
          <a:prstGeom prst="roundRect">
            <a:avLst>
              <a:gd fmla="val 7407" name="adj"/>
            </a:avLst>
          </a:prstGeom>
          <a:solidFill>
            <a:srgbClr val="0A4A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713232" y="1636776"/>
            <a:ext cx="548640" cy="54864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713232" y="16367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1417320" y="1417320"/>
            <a:ext cx="43434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CSV Ingestion (110,527 records)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3063240" y="2404872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600"/>
              <a:buFont typeface="Calibri"/>
              <a:buNone/>
            </a:pPr>
            <a:r>
              <a:rPr b="0" i="0" lang="en-US" sz="1300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548640" y="2624328"/>
            <a:ext cx="5394960" cy="987552"/>
          </a:xfrm>
          <a:prstGeom prst="roundRect">
            <a:avLst>
              <a:gd fmla="val 7407" name="adj"/>
            </a:avLst>
          </a:prstGeom>
          <a:solidFill>
            <a:srgbClr val="0A4A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713232" y="2843784"/>
            <a:ext cx="548640" cy="54864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713232" y="28437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1417320" y="2624328"/>
            <a:ext cx="43434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Database Setup &amp; Staging Schema Creation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3063240" y="361188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600"/>
              <a:buFont typeface="Calibri"/>
              <a:buNone/>
            </a:pPr>
            <a:r>
              <a:rPr b="0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548640" y="3831336"/>
            <a:ext cx="5394960" cy="987552"/>
          </a:xfrm>
          <a:prstGeom prst="roundRect">
            <a:avLst>
              <a:gd fmla="val 7407" name="adj"/>
            </a:avLst>
          </a:prstGeom>
          <a:solidFill>
            <a:srgbClr val="0A4A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713232" y="4050792"/>
            <a:ext cx="548640" cy="54864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713232" y="40507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417320" y="3831336"/>
            <a:ext cx="43434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Data Cleaning, Type Casting &amp; Feature Engineering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3063240" y="4818888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600"/>
              <a:buFont typeface="Calibri"/>
              <a:buNone/>
            </a:pPr>
            <a:r>
              <a:rPr b="0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548640" y="5038344"/>
            <a:ext cx="5394960" cy="987552"/>
          </a:xfrm>
          <a:prstGeom prst="roundRect">
            <a:avLst>
              <a:gd fmla="val 7407" name="adj"/>
            </a:avLst>
          </a:prstGeom>
          <a:solidFill>
            <a:srgbClr val="0A4A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713232" y="5257800"/>
            <a:ext cx="548640" cy="54864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713232" y="5257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1417320" y="5038344"/>
            <a:ext cx="43434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Analytical Query Execution (Cohort &amp; Trend Analysis)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6263640" y="1417320"/>
            <a:ext cx="5394960" cy="987552"/>
          </a:xfrm>
          <a:prstGeom prst="roundRect">
            <a:avLst>
              <a:gd fmla="val 7407" name="adj"/>
            </a:avLst>
          </a:prstGeom>
          <a:solidFill>
            <a:srgbClr val="0A4A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6428232" y="1636776"/>
            <a:ext cx="548640" cy="54864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6428232" y="16367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7132320" y="1417320"/>
            <a:ext cx="43434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 Import Integration &amp; Data Modeling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8778240" y="2404872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600"/>
              <a:buFont typeface="Calibri"/>
              <a:buNone/>
            </a:pPr>
            <a:r>
              <a:rPr b="0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6263640" y="2624328"/>
            <a:ext cx="5394960" cy="987552"/>
          </a:xfrm>
          <a:prstGeom prst="roundRect">
            <a:avLst>
              <a:gd fmla="val 7407" name="adj"/>
            </a:avLst>
          </a:prstGeom>
          <a:solidFill>
            <a:srgbClr val="0A4A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6428232" y="2843784"/>
            <a:ext cx="548640" cy="54864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7"/>
          <p:cNvSpPr/>
          <p:nvPr/>
        </p:nvSpPr>
        <p:spPr>
          <a:xfrm>
            <a:off x="6428232" y="28437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7132320" y="2624328"/>
            <a:ext cx="43434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DAX Metric Engineering (KPIs, Rates, Aggregations)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8778240" y="361188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600"/>
              <a:buFont typeface="Calibri"/>
              <a:buNone/>
            </a:pPr>
            <a:r>
              <a:rPr b="0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6263640" y="3831336"/>
            <a:ext cx="5394960" cy="987552"/>
          </a:xfrm>
          <a:prstGeom prst="roundRect">
            <a:avLst>
              <a:gd fmla="val 7407" name="adj"/>
            </a:avLst>
          </a:prstGeom>
          <a:solidFill>
            <a:srgbClr val="0A4A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6428232" y="4050792"/>
            <a:ext cx="548640" cy="54864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6428232" y="40507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7132320" y="3831336"/>
            <a:ext cx="43434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2-Page Interactive BI Dashboard Construction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8778240" y="4818888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600"/>
              <a:buFont typeface="Calibri"/>
              <a:buNone/>
            </a:pPr>
            <a:r>
              <a:rPr b="0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6263640" y="5038344"/>
            <a:ext cx="5394960" cy="987552"/>
          </a:xfrm>
          <a:prstGeom prst="roundRect">
            <a:avLst>
              <a:gd fmla="val 7407" name="adj"/>
            </a:avLst>
          </a:prstGeom>
          <a:solidFill>
            <a:srgbClr val="0A4A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6428232" y="5257800"/>
            <a:ext cx="548640" cy="54864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6428232" y="5257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7132320" y="5038344"/>
            <a:ext cx="43434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Documentation &amp; GitHub Repository Publishing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5620320" y="5312664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2200"/>
              <a:buFont typeface="Calibri"/>
              <a:buNone/>
            </a:pPr>
            <a:r>
              <a:rPr b="0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FC6DA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AFC6D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5925120" y="1655064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2200"/>
              <a:buFont typeface="Calibri"/>
              <a:buNone/>
            </a:pPr>
            <a:r>
              <a:rPr b="0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 rot="10800000">
            <a:off x="5900627" y="5043325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600"/>
              <a:buFont typeface="Calibri"/>
              <a:buNone/>
            </a:pPr>
            <a:r>
              <a:rPr b="0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 rot="10800000">
            <a:off x="5900627" y="3743125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600"/>
              <a:buFont typeface="Calibri"/>
              <a:buNone/>
            </a:pPr>
            <a:r>
              <a:rPr b="0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 rot="10800000">
            <a:off x="5900627" y="2604925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E"/>
              </a:buClr>
              <a:buSzPts val="1600"/>
              <a:buFont typeface="Calibri"/>
              <a:buNone/>
            </a:pPr>
            <a:r>
              <a:rPr b="0" i="0" lang="en-US" u="none" cap="none" strike="noStrike">
                <a:solidFill>
                  <a:srgbClr val="7FB4D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8"/>
          <p:cNvSpPr/>
          <p:nvPr/>
        </p:nvSpPr>
        <p:spPr>
          <a:xfrm>
            <a:off x="548640" y="298704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3A63"/>
                </a:solidFill>
                <a:latin typeface="Cambria"/>
                <a:ea typeface="Cambria"/>
                <a:cs typeface="Cambria"/>
                <a:sym typeface="Cambria"/>
              </a:rPr>
              <a:t>GitHub Repository &amp; Project Deliverables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548650" y="1109749"/>
            <a:ext cx="7315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A63"/>
                </a:solidFill>
                <a:latin typeface="Calibri"/>
                <a:ea typeface="Calibri"/>
                <a:cs typeface="Calibri"/>
                <a:sym typeface="Calibri"/>
              </a:rPr>
              <a:t>Repository:  </a:t>
            </a:r>
            <a:r>
              <a:rPr b="1" i="0" lang="en-US" sz="1500" u="none" cap="none" strike="noStrike">
                <a:solidFill>
                  <a:srgbClr val="005A9C"/>
                </a:solidFill>
                <a:latin typeface="Courier New"/>
                <a:ea typeface="Courier New"/>
                <a:cs typeface="Courier New"/>
                <a:sym typeface="Courier New"/>
              </a:rPr>
              <a:t>Healthcare-Outpatient-Analytics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548650" y="1644288"/>
            <a:ext cx="6217800" cy="4373400"/>
          </a:xfrm>
          <a:prstGeom prst="roundRect">
            <a:avLst>
              <a:gd fmla="val 1333" name="adj"/>
            </a:avLst>
          </a:prstGeom>
          <a:solidFill>
            <a:srgbClr val="0F2A44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927000" y="1799800"/>
            <a:ext cx="56382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t/>
            </a:r>
            <a:endParaRPr sz="1150">
              <a:solidFill>
                <a:srgbClr val="CFE6F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Healthcare-Outpatient-Analytics/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README.md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SQL/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database_creation.sql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table_creation.sql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data_cleaning.sql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analysis_queries.sql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Dataset/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raw_appointments.csv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clean_appointments.csv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PowerBI/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Health-Care_Report.pbix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Screenshots/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Operational Executive </a:t>
            </a:r>
            <a:r>
              <a:rPr lang="en-US" sz="1150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Overview.png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Strategic Intervention &amp;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Clinical Risk Cohorts.png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└── Documentation/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150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├</a:t>
            </a:r>
            <a:r>
              <a:rPr b="0" i="0" lang="en-US" sz="1150" u="none" cap="none" strike="noStrike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── Health-Care_Report.pdf</a:t>
            </a:r>
            <a:endParaRPr b="0" i="0" sz="1150" u="none" cap="none" strike="noStrike">
              <a:solidFill>
                <a:srgbClr val="CFE6F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6FA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150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└── </a:t>
            </a:r>
            <a:r>
              <a:rPr lang="en-US" sz="1150">
                <a:solidFill>
                  <a:srgbClr val="CFE6FA"/>
                </a:solidFill>
                <a:latin typeface="Courier New"/>
                <a:ea typeface="Courier New"/>
                <a:cs typeface="Courier New"/>
                <a:sym typeface="Courier New"/>
              </a:rPr>
              <a:t>NHS_Healthcare_Analytics_Presentation.pptx</a:t>
            </a:r>
            <a:endParaRPr sz="1150">
              <a:solidFill>
                <a:srgbClr val="CFE6F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7086601" y="1644288"/>
            <a:ext cx="45264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b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Master Project Documentation &amp; Whitepaper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7086601" y="2344047"/>
            <a:ext cx="45264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  <a:t>SQL/</a:t>
            </a:r>
            <a:b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database_creation.sql, table_creation.sql, data_cleaning.sql, analysis_queries.sql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7086601" y="3043806"/>
            <a:ext cx="45264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  <a:t>Dataset/</a:t>
            </a:r>
            <a:b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raw_appointments.csv, clean_appointments.csv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7086601" y="3743565"/>
            <a:ext cx="45264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  <a:t>PowerBI/</a:t>
            </a:r>
            <a:b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Health-Care_Report.pbix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7086601" y="4443325"/>
            <a:ext cx="45264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  <a:t>Screenshots/</a:t>
            </a:r>
            <a:b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Operational Executive Overview.png, Strategic Intervention &amp; Clinical Risk Cohorts.png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7086601" y="5143084"/>
            <a:ext cx="4526400" cy="699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A63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  <a:t>Documentation/</a:t>
            </a:r>
            <a:br>
              <a:rPr b="1" i="0" lang="en-US" sz="1250" u="none" cap="none" strike="noStrike">
                <a:solidFill>
                  <a:srgbClr val="003A6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Health-Care_Report.pdf, </a:t>
            </a:r>
            <a:r>
              <a:rPr lang="en-US" sz="1150">
                <a:solidFill>
                  <a:srgbClr val="5B6B79"/>
                </a:solidFill>
                <a:latin typeface="Courier New"/>
                <a:ea typeface="Courier New"/>
                <a:cs typeface="Courier New"/>
                <a:sym typeface="Courier New"/>
              </a:rPr>
              <a:t>NHS_Healthcare_Analytics_Presentation.pptx</a:t>
            </a:r>
            <a:endParaRPr b="0" i="0" sz="1250" u="none" cap="none" strike="noStrike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7086601" y="5774811"/>
            <a:ext cx="4526400" cy="534600"/>
          </a:xfrm>
          <a:prstGeom prst="roundRect">
            <a:avLst>
              <a:gd fmla="val 14545" name="adj"/>
            </a:avLst>
          </a:prstGeom>
          <a:solidFill>
            <a:srgbClr val="2E7D32"/>
          </a:solidFill>
          <a:ln>
            <a:noFill/>
          </a:ln>
          <a:effectLst>
            <a:outerShdw blurRad="76200" rotWithShape="0" algn="bl" dir="5400000" dist="25400">
              <a:srgbClr val="1B273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7086601" y="5774811"/>
            <a:ext cx="45264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Published — available for recruiter and technical stakeholder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